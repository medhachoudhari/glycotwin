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9164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85216" y="2743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98755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BD5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Personalized Post-Meal Glucose Digital Twin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7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Digital Twin Challenge 2026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7406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stateful, uncertainty-aware Digital Twin that forecasts post-meal glucose risk, learns from each person's own eligible outcomes, and reports its evidence honestly — rather than issuing a single prediction and forgetting it.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E7ECF7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34107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581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 uncertainty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76272" y="3584448"/>
            <a:ext cx="448056" cy="237744"/>
          </a:xfrm>
          <a:prstGeom prst="rightArrow">
            <a:avLst/>
          </a:prstGeom>
          <a:solidFill>
            <a:srgbClr val="9AA7C7"/>
          </a:solidFill>
          <a:ln/>
        </p:spPr>
      </p:sp>
      <p:sp>
        <p:nvSpPr>
          <p:cNvPr id="11" name="Shape 9"/>
          <p:cNvSpPr/>
          <p:nvPr/>
        </p:nvSpPr>
        <p:spPr>
          <a:xfrm>
            <a:off x="2651760" y="324612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E7ECF7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651760" y="34107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37581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eligible outcome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79392" y="3584448"/>
            <a:ext cx="448056" cy="237744"/>
          </a:xfrm>
          <a:prstGeom prst="rightArrow">
            <a:avLst/>
          </a:prstGeom>
          <a:solidFill>
            <a:srgbClr val="9AA7C7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324612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E7ECF7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54880" y="34107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37581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twin version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7406640" cy="1691640"/>
          </a:xfrm>
          <a:prstGeom prst="roundRect">
            <a:avLst>
              <a:gd name="adj" fmla="val 4324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68680" y="4663440"/>
            <a:ext cx="6949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Team: </a:t>
            </a:r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4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NeuralForge — Medha Choudhari (solo)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Institution: </a:t>
            </a:r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4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Bapuji Institute of Engineering and Technology (BIET), Davangere, Karnataka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Incubator: </a:t>
            </a:r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8A5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[Pending confirmation]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823960" y="2651760"/>
            <a:ext cx="2743200" cy="2743200"/>
          </a:xfrm>
          <a:prstGeom prst="ellipse">
            <a:avLst/>
          </a:prstGeom>
          <a:solidFill>
            <a:srgbClr val="E7ECF7"/>
          </a:solidFill>
          <a:ln w="2857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06840" y="30632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4462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↻ next forecast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92240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github.com/medhachoudhari/GlycoTwin  ·  Investigational research prototype — not a medical device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Post-meal glucose responses vary from person to person — age, body composition, recent activity and individual metabolism all matter. A single population-average forecast misses this variation entirely.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2344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46520" y="1417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 LIMITATION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73736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one-time prediction does not automatically adapt when new, person-specific observations become available. Most tools also present an estimate without reporting how confident they are.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34564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 RESEARCH QUESTION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84048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i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a stateful, personalized Digital Twin connect forecasts with eligible observations, and use them to update itself for the next forecast?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349240"/>
            <a:ext cx="11064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Personalization and honest communication of uncertainty are both important research considerations — not optional extras for GlycoTwin's design.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 single-shot predictors treat every forecast as independent; GlycoTwin treats each forecast as one step in a continuing, evidence-linked loop.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92240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 — problem statement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 keeps a persistent, versioned Digital Twin for each person and runs it through one continuous workflow: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01952" cy="1920240"/>
          </a:xfrm>
          <a:prstGeom prst="roundRect">
            <a:avLst>
              <a:gd name="adj" fmla="val 3846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94767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Meal &amp; context</a:t>
            </a:r>
            <a:endParaRPr lang="en-US" sz="15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Carbs, pre-meal glucose,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recent activity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78024" y="2624328"/>
            <a:ext cx="201168" cy="237744"/>
          </a:xfrm>
          <a:prstGeom prst="rightArrow">
            <a:avLst/>
          </a:prstGeom>
          <a:solidFill>
            <a:srgbClr val="9AA7C7"/>
          </a:solidFill>
          <a:ln/>
        </p:spPr>
      </p:sp>
      <p:sp>
        <p:nvSpPr>
          <p:cNvPr id="8" name="Shape 6"/>
          <p:cNvSpPr/>
          <p:nvPr/>
        </p:nvSpPr>
        <p:spPr>
          <a:xfrm>
            <a:off x="2706624" y="1783080"/>
            <a:ext cx="1901952" cy="1920240"/>
          </a:xfrm>
          <a:prstGeom prst="roundRect">
            <a:avLst>
              <a:gd name="adj" fmla="val 3846"/>
            </a:avLst>
          </a:prstGeom>
          <a:solidFill>
            <a:srgbClr val="E7ECF7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779776" y="194767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2798064" y="256032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Probability + 90%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interval for the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glucose maximum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36008" y="2624328"/>
            <a:ext cx="201168" cy="237744"/>
          </a:xfrm>
          <a:prstGeom prst="rightArrow">
            <a:avLst/>
          </a:prstGeom>
          <a:solidFill>
            <a:srgbClr val="9AA7C7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4608" y="1783080"/>
            <a:ext cx="1901952" cy="1920240"/>
          </a:xfrm>
          <a:prstGeom prst="roundRect">
            <a:avLst>
              <a:gd name="adj" fmla="val 3846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937760" y="194767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956048" y="256032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outcome recorded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once the window closes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93992" y="2624328"/>
            <a:ext cx="201168" cy="237744"/>
          </a:xfrm>
          <a:prstGeom prst="rightArrow">
            <a:avLst/>
          </a:prstGeom>
          <a:solidFill>
            <a:srgbClr val="9AA7C7"/>
          </a:solidFill>
          <a:ln/>
        </p:spPr>
      </p:sp>
      <p:sp>
        <p:nvSpPr>
          <p:cNvPr id="16" name="Shape 14"/>
          <p:cNvSpPr/>
          <p:nvPr/>
        </p:nvSpPr>
        <p:spPr>
          <a:xfrm>
            <a:off x="7022592" y="1783080"/>
            <a:ext cx="1901952" cy="1920240"/>
          </a:xfrm>
          <a:prstGeom prst="roundRect">
            <a:avLst>
              <a:gd name="adj" fmla="val 3846"/>
            </a:avLst>
          </a:prstGeom>
          <a:solidFill>
            <a:srgbClr val="E7ECF7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095744" y="194767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 state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7114032" y="256032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Eligible outcomes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trigger a Bayesian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51976" y="2624328"/>
            <a:ext cx="201168" cy="237744"/>
          </a:xfrm>
          <a:prstGeom prst="rightArrow">
            <a:avLst/>
          </a:prstGeom>
          <a:solidFill>
            <a:srgbClr val="9AA7C7"/>
          </a:solidFill>
          <a:ln/>
        </p:spPr>
      </p:sp>
      <p:sp>
        <p:nvSpPr>
          <p:cNvPr id="20" name="Shape 18"/>
          <p:cNvSpPr/>
          <p:nvPr/>
        </p:nvSpPr>
        <p:spPr>
          <a:xfrm>
            <a:off x="9180576" y="1783080"/>
            <a:ext cx="1901952" cy="1920240"/>
          </a:xfrm>
          <a:prstGeom prst="roundRect">
            <a:avLst>
              <a:gd name="adj" fmla="val 3846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253728" y="194767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forecast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9272016" y="2560320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Starts from the updated,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personalized state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twin's state carries forward — the next forecast starts from the updated parameters, not from scratch. Each stage above is logged, so any forecast can be traced back to the twin version that produced it.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BF1E3"/>
          </a:solidFill>
          <a:ln w="12700">
            <a:solidFill>
              <a:srgbClr val="E0B169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68680" y="4828032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A5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prediction target is the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8A5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maximum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A5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glucose reached within the 120-minute post-meal window — not necessarily a complete glucose-over-time curve. GlycoTwin forecasts a single risk value with uncertainty, not a simulated trajectory. This keeps the modelling problem well-posed even when continuous glucose readings are noisy or sparse.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92240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 — proposed solution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Innovative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7ECF7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0876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★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42646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 → Observe → Update — the core loop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10512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Connects every prediction with its eligible observed outcome and the state update that follows — a forecast is never a dead end. This is the project's central contribution.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88950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889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85292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Uncertainty-aware forecasting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2461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Reports a 90% interval and a threshold probability — never presents an estimate as a guarantee.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26517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64808" y="288950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64808" y="2889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285292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Bayesian-style personalization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32461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B updates a personal carbohydrate-response parameter from each person's own eligible observations.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224528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46227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" y="4462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42569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Persistent Digital Twin state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81888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Retains model state and full version history, carried into every subsequent forecast.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4224528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64808" y="446227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64808" y="4462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442569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Explainability &amp; model comparison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81888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Lets researchers inspect outputs and compare Models B and C side by side, honestly.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8873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project's contribution is the integrated, working loop — not any single technique in isolation. Each supporting feature above strengthens the same forecast→observe→update cycle shown at the top of this slide.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92240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 — innovative features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and Research Methodology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CGMacros dataset — </a:t>
            </a:r>
            <a:pPr indent="0" marL="0">
              <a:buNone/>
            </a:pPr>
            <a:r>
              <a:rPr lang="en-US" sz="1550" b="1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 participant files audited</a:t>
            </a:r>
            <a:pPr indent="0" marL="0">
              <a:buNone/>
            </a:pPr>
            <a:r>
              <a:rPr lang="en-US" sz="15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Figures below trace one pipeline, stage by stage: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15184" cy="1691640"/>
          </a:xfrm>
          <a:prstGeom prst="roundRect">
            <a:avLst>
              <a:gd name="adj" fmla="val 4324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1,706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46888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logged meal rows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82112" y="2327148"/>
            <a:ext cx="146304" cy="237744"/>
          </a:xfrm>
          <a:prstGeom prst="rightArrow">
            <a:avLst/>
          </a:prstGeom>
          <a:solidFill>
            <a:srgbClr val="9AA7C7"/>
          </a:solidFill>
          <a:ln/>
        </p:spPr>
      </p:sp>
      <p:sp>
        <p:nvSpPr>
          <p:cNvPr id="8" name="Shape 6"/>
          <p:cNvSpPr/>
          <p:nvPr/>
        </p:nvSpPr>
        <p:spPr>
          <a:xfrm>
            <a:off x="3346704" y="1600200"/>
            <a:ext cx="2615184" cy="1691640"/>
          </a:xfrm>
          <a:prstGeom prst="roundRect">
            <a:avLst>
              <a:gd name="adj" fmla="val 4324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46704" y="182880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1,697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56432" y="246888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 120-min windows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(extraction-valid)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80176" y="2327148"/>
            <a:ext cx="146304" cy="237744"/>
          </a:xfrm>
          <a:prstGeom prst="rightArrow">
            <a:avLst/>
          </a:prstGeom>
          <a:solidFill>
            <a:srgbClr val="9AA7C7"/>
          </a:solidFill>
          <a:ln/>
        </p:spPr>
      </p:sp>
      <p:sp>
        <p:nvSpPr>
          <p:cNvPr id="12" name="Shape 10"/>
          <p:cNvSpPr/>
          <p:nvPr/>
        </p:nvSpPr>
        <p:spPr>
          <a:xfrm>
            <a:off x="6144768" y="1600200"/>
            <a:ext cx="2615184" cy="1691640"/>
          </a:xfrm>
          <a:prstGeom prst="roundRect">
            <a:avLst>
              <a:gd name="adj" fmla="val 4324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144768" y="182880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1,262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254496" y="246888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core-eligible events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(leakage-safe modelling set)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78240" y="2327148"/>
            <a:ext cx="146304" cy="237744"/>
          </a:xfrm>
          <a:prstGeom prst="rightArrow">
            <a:avLst/>
          </a:prstGeom>
          <a:solidFill>
            <a:srgbClr val="9AA7C7"/>
          </a:solidFill>
          <a:ln/>
        </p:spPr>
      </p:sp>
      <p:sp>
        <p:nvSpPr>
          <p:cNvPr id="16" name="Shape 14"/>
          <p:cNvSpPr/>
          <p:nvPr/>
        </p:nvSpPr>
        <p:spPr>
          <a:xfrm>
            <a:off x="8942832" y="1600200"/>
            <a:ext cx="2615184" cy="1691640"/>
          </a:xfrm>
          <a:prstGeom prst="roundRect">
            <a:avLst>
              <a:gd name="adj" fmla="val 4324"/>
            </a:avLst>
          </a:prstGeom>
          <a:solidFill>
            <a:srgbClr val="E7ECF7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42832" y="182880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963 / 34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46888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activity-eligible events / participants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(Model B vs C)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611880"/>
            <a:ext cx="539496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Meal event anchored at the logged meal row (t0); outcome window is (t0, t0+120 min].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 use only information available before the meal; activity measured strictly before t0.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611880"/>
            <a:ext cx="54406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Leakage safeguards: participant-level folds, sequential (online) evaluation.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every model used every event — 963/34 is the activity-eligible subset used specifically for Model B vs C.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BF1E3"/>
          </a:solidFill>
          <a:ln w="12700">
            <a:solidFill>
              <a:srgbClr val="E0B169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41248" y="5577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8A5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participant-level health data or the dataset itself is included in this repository — aggregate, de-identified figures only. All counts above are reproducible from the audited pipeline in data/audit.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92240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 — dataset and methodology · Source: data/audit, docs/data_validity_rules.md, docs/primary_channel_decision.md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 and Technical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00784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 19 · TypeScript · Vite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pages, calls /api endpoints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05072" y="1824228"/>
            <a:ext cx="265176" cy="237744"/>
          </a:xfrm>
          <a:prstGeom prst="rightArrow">
            <a:avLst/>
          </a:prstGeom>
          <a:solidFill>
            <a:srgbClr val="9AA7C7"/>
          </a:solidFill>
          <a:ln/>
        </p:spPr>
      </p:sp>
      <p:sp>
        <p:nvSpPr>
          <p:cNvPr id="7" name="Shape 5"/>
          <p:cNvSpPr/>
          <p:nvPr/>
        </p:nvSpPr>
        <p:spPr>
          <a:xfrm>
            <a:off x="4297680" y="11887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8056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API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700784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FastAPI, bound to 127.0.0.1 only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cookie + ownership check on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twin route · scrypt password hashing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54112" y="1824228"/>
            <a:ext cx="265176" cy="237744"/>
          </a:xfrm>
          <a:prstGeom prst="rightArrow">
            <a:avLst/>
          </a:prstGeom>
          <a:solidFill>
            <a:srgbClr val="9AA7C7"/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0" y="11887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1700784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SQLite — 11 tables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users, twins, forecasts,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observations, reconciliations…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E7ECF7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APPLICATION — research engine (shared)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45643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Bayesian Models B &amp; C — closed-form update, forecast + uncertainty. The live twin and offline research experiments call the exact same functions, so a result validated offline reflects the engine actually serving users.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297180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BF1E3"/>
          </a:solidFill>
          <a:ln w="15875">
            <a:solidFill>
              <a:srgbClr val="E0B169"/>
            </a:solidFill>
            <a:prstDash val="dash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00800" y="31089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OFFLINE — CGMacros research pipeline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45643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5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Runs on the researcher's own machine — never reached by the website. Only aggregate priors and evaluation reports cross over into the live application, never raw participant data.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709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stack, grouped by layer: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074920"/>
            <a:ext cx="36118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pandas, NumPy, SciPy, scikit-learn, XGBoost (Model A) — src/glycotwin/models/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5074920"/>
            <a:ext cx="36118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FastAPI, Pydantic v2, SQLAlchemy 2, Uvicorn, SQLite — src/glycotwin/backend/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5074920"/>
            <a:ext cx="35661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pytest, httpx for testing (815 Python tests recorded)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Separating the live and offline paths keeps the deployed application simple and auditable, while still letting the same Bayesian engine be stress-tested against a full retrospective dataset.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92240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 — architecture and stack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Models and Personalization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383280"/>
                <a:gridCol w="3931920"/>
                <a:gridCol w="25603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Role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Formula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Personalizes / updates?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Population baseline (XGBoost)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tree ensemble on pooled data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— trained once, no personal history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Personalized carb-sensitivity model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rise = β · carbs + noise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 — β updates after each eligible meal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 B + activity conditioning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rise = (β + γ·activity) · carbs + noise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 — same update, plus γ term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611880"/>
            <a:ext cx="539496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plain English: β ("beta") is how much this person's glucose typically rises per gram of carbohydrate; γ ("gamma") adjusts that for recent activity.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parameters start from a population prior and are refined per person as eligible meals accumulate.</a:t>
            </a:r>
            <a:endParaRPr lang="en-US" sz="1550" dirty="0"/>
          </a:p>
        </p:txBody>
      </p:sp>
      <p:sp>
        <p:nvSpPr>
          <p:cNvPr id="5" name="Text 2"/>
          <p:cNvSpPr txBox="1"/>
          <p:nvPr/>
        </p:nvSpPr>
        <p:spPr>
          <a:xfrm>
            <a:off x="6172200" y="3611880"/>
            <a:ext cx="54406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an eligible outcome, a closed-form Bayesian update moves β (and γ, for Model C) toward what that meal suggests and narrows its uncertainty.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A serves as the fixed, non-personalized baseline that B and C are compared against.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55961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a parameter update, not retraining a neural network — no model is retrained from scratch after each meal.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92240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 — models, uncertainty, personalization · Source: docs/model_a.md, model_b.md, model_c.md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Results and Evaluation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B vs Model C — 963 meals, 34 participants, Libre channel, out-of-fold + sequential evaluation: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37360"/>
                <a:gridCol w="1737360"/>
                <a:gridCol w="1554480"/>
                <a:gridCol w="3383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 B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 C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 − B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95% interval (illustrative)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ROC-AUC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0.7943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0.8059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+0.0116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[−0.0084, +0.0479]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Brier score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0.1391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0.1379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−0.0012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[−0.0064, +0.0030]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Rise MAE (mg/dL)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29.40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29.51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+0.11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[−0.52, +0.68]</a:t>
                      </a:r>
                      <a:endParaRPr lang="en-US" sz="14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840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9A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of 9 paired intervals include zero → the comparison is INCONCLUSIVE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B does not demonstrably outperform every baseline; Model C's activity term has not been shown to help. No universal superiority is claimed for either model — the honest reading of this evidence is "not yet distinguishable," not "Model C wins." Reporting this plainly, rather than rounding it up to a win, is itself part of the project's evidence discipline.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54406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BF1E3"/>
          </a:solidFill>
          <a:ln w="12700">
            <a:solidFill>
              <a:srgbClr val="E0B169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A5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different kinds of evidence: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5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retrospective CGMacros result is research evidence — not the same as the live application working (shown next slide), and neither is the same as clinical validation, which has not been done. All three are necessary; none substitutes for another.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92240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 — research evidence · Source: docs/model_b_vs_c_report.md (not recomputed for this deck)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Demonstration, Limitations and Safety</a:t>
            </a:r>
            <a:endParaRPr lang="en-US" sz="3200" dirty="0"/>
          </a:p>
        </p:txBody>
      </p:sp>
      <p:pic>
        <p:nvPicPr>
          <p:cNvPr id="3" name="Image 0" descr="/tmp/vid/shots/final_5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188720"/>
            <a:ext cx="5486400" cy="3429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72200" y="1188720"/>
            <a:ext cx="5486400" cy="3429000"/>
          </a:xfrm>
          <a:prstGeom prst="rect">
            <a:avLst/>
          </a:prstGeom>
          <a:ln w="12700">
            <a:solidFill>
              <a:srgbClr val="D7DC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72200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application screenshot — My Twin page after one eligible update (version 0 → 1)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40080" y="13624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VERSION 0 (before)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7.7%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1945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P(max ≥ 180 mg/dL)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34056" y="1732788"/>
            <a:ext cx="246888" cy="237744"/>
          </a:xfrm>
          <a:prstGeom prst="rightArrow">
            <a:avLst/>
          </a:prstGeom>
          <a:solidFill>
            <a:srgbClr val="9AA7C7"/>
          </a:solidFill>
          <a:ln/>
        </p:spPr>
      </p:sp>
      <p:sp>
        <p:nvSpPr>
          <p:cNvPr id="11" name="Shape 8"/>
          <p:cNvSpPr/>
          <p:nvPr/>
        </p:nvSpPr>
        <p:spPr>
          <a:xfrm>
            <a:off x="3017520" y="123444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7ECF7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108960" y="13624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VERSION 1 (after)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310896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21.0%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3108960" y="21945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P(max ≥ 180 mg/dL)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2697480"/>
            <a:ext cx="493776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Observe: eligible outcome recorded after the 120-min window closes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Update: Model B β moves from 0.747 → 0.950 (twin version 0 → 1)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forecast, same inputs: probability rises to 21.0%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572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i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inputs, different twin state, different forecast.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48640" y="51663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BEAEA"/>
          </a:solidFill>
          <a:ln w="12700">
            <a:solidFill>
              <a:srgbClr val="D9A0A0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22960" y="5285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and safety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5577840"/>
            <a:ext cx="34290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Investigational research prototype — not a clinically validated diagnostic or treatment system.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343400" y="5577840"/>
            <a:ext cx="34290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intended for insulin dosing or any clinical decision.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863840" y="5577840"/>
            <a:ext cx="35661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Further evaluation and independent validation are required before any real-world use.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92240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 — live demonstration and limitations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and Future Work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2431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AA7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C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One-off glucose predictions cannot adapt to the individual, and most tools do not report how confident they are.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2431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5544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AA7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CONTRIBUTION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8745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C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persistent, versioned Digital Twin linking forecasting, uncertainty and sequential Bayesian personalization in one working loop.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2431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1546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AA7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EVIDENCE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747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C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Retrospective CGMacros evaluation — inconclusive for activity-conditioning, but the pipeline and leakage safeguards are validated.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29718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2431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31546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AA7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4747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C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the full prespecified key experiment on real data with baseline controls; test whether an activity effect depends on activity level.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61F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6451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D5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Repository: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github.com/medhachoudhari/GlycoTwin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6451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BD5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/ Institution:  </a:t>
            </a:r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NeuralForge — Medha Choudhari, BIET Davangere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CBD5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 connects forecasting, observation, and personalization into one honest, auditable research workflow — reporting what the evidence shows, not more.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7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Investigational research prototype — not a medical device, not clinically validated.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ycoTwinLight">
  <a:themeElements>
    <a:clrScheme name="GlycoTwinLight">
      <a:dk1>
        <a:srgbClr val="17213B"/>
      </a:dk1>
      <a:lt1>
        <a:srgbClr val="FFFFFF"/>
      </a:lt1>
      <a:dk2>
        <a:srgbClr val="1E2761"/>
      </a:dk2>
      <a:lt2>
        <a:srgbClr val="EEF1F8"/>
      </a:lt2>
      <a:accent1>
        <a:srgbClr val="1E2761"/>
      </a:accent1>
      <a:accent2>
        <a:srgbClr val="3B5BA5"/>
      </a:accent2>
      <a:accent3>
        <a:srgbClr val="9AA7C7"/>
      </a:accent3>
      <a:accent4>
        <a:srgbClr val="B45309"/>
      </a:accent4>
      <a:accent5>
        <a:srgbClr val="A61B29"/>
      </a:accent5>
      <a:accent6>
        <a:srgbClr val="5B6B8C"/>
      </a:accent6>
      <a:hlink>
        <a:srgbClr val="1E2761"/>
      </a:hlink>
      <a:folHlink>
        <a:srgbClr val="1E2761"/>
      </a:folHlink>
    </a:clrScheme>
    <a:fontScheme name="GlycoTwinLight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2026-10-13T15:49:44Z</dcterms:created>
  <dcterms:modified xsi:type="dcterms:W3CDTF">2026-10-13T15:49:44Z</dcterms:modified>
</cp:coreProperties>
</file>
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14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BD5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Personalized Post-Meal Glucose Digital Twin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Digital Twin Challenge 2026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stateful, uncertainty-aware Digital Twin that forecasts post-meal glucose risk, learns from each person's own eligible outcomes, and reports its evidence honestly.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8778240" cy="1600200"/>
          </a:xfrm>
          <a:prstGeom prst="roundRect">
            <a:avLst>
              <a:gd name="adj" fmla="val 4571"/>
            </a:avLst>
          </a:prstGeom>
          <a:solidFill>
            <a:srgbClr val="EEF1F8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3474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Team: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600" i="1" dirty="0">
                <a:solidFill>
                  <a:srgbClr val="8A5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[Team / member names — to be filled in]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Institution: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600" i="1" dirty="0">
                <a:solidFill>
                  <a:srgbClr val="8A5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[College / university — to be filled in]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Incubator: </a:t>
            </a:r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8A5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[Incubator name, or "Not applicable" — to be filled in]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464040" y="2971800"/>
            <a:ext cx="2103120" cy="2103120"/>
          </a:xfrm>
          <a:prstGeom prst="donut">
            <a:avLst>
              <a:gd name="adj1" fmla="val 0"/>
              <a:gd name="adj2" fmla="val 21000000"/>
            </a:avLst>
          </a:prstGeom>
          <a:solidFill>
            <a:srgbClr val="E7ECF7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46920" y="3310128"/>
            <a:ext cx="173736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FORECAST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OBSERVE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UPDATE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6473952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github.com/medhachoudhari/GlycoTwin  ·  Investigational research prototype — not a medical device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778240" cy="2377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Post-meal glucose responses vary from person to person — a single population-average forecast misses this.</a:t>
            </a:r>
            <a:endParaRPr lang="en-US" sz="21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one-time prediction does not automatically adapt when new, person-specific observations become available.</a:t>
            </a:r>
            <a:endParaRPr lang="en-US" sz="21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Personalization and honest communication of uncertainty are both important research considerations, not optional extras.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379476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EEF1F8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Central research question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43484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i="1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a stateful, personalized Digital Twin connect forecasts with eligible observations, and use them to update itself for the next forecast?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473952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 — problem statement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 keeps a persistent, versioned Digital Twin for each person and runs it through one workflow.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233172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EEF1F8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2331720"/>
            <a:ext cx="187452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Meal &amp;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context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496312" y="2930652"/>
            <a:ext cx="329184" cy="219456"/>
          </a:xfrm>
          <a:prstGeom prst="rightArrow">
            <a:avLst/>
          </a:prstGeom>
          <a:solidFill>
            <a:srgbClr val="9AA7C7"/>
          </a:solidFill>
          <a:ln/>
        </p:spPr>
      </p:sp>
      <p:sp>
        <p:nvSpPr>
          <p:cNvPr id="7" name="Shape 5"/>
          <p:cNvSpPr/>
          <p:nvPr/>
        </p:nvSpPr>
        <p:spPr>
          <a:xfrm>
            <a:off x="2852928" y="233172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E7ECF7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852928" y="2331720"/>
            <a:ext cx="187452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Forecast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(+ uncertainty)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54880" y="2930652"/>
            <a:ext cx="329184" cy="219456"/>
          </a:xfrm>
          <a:prstGeom prst="rightArrow">
            <a:avLst/>
          </a:prstGeom>
          <a:solidFill>
            <a:srgbClr val="9AA7C7"/>
          </a:solidFill>
          <a:ln/>
        </p:spPr>
      </p:sp>
      <p:sp>
        <p:nvSpPr>
          <p:cNvPr id="10" name="Shape 8"/>
          <p:cNvSpPr/>
          <p:nvPr/>
        </p:nvSpPr>
        <p:spPr>
          <a:xfrm>
            <a:off x="5111496" y="233172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EEF1F8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111496" y="2331720"/>
            <a:ext cx="187452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Observe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(eligible outcome)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013448" y="2930652"/>
            <a:ext cx="329184" cy="219456"/>
          </a:xfrm>
          <a:prstGeom prst="rightArrow">
            <a:avLst/>
          </a:prstGeom>
          <a:solidFill>
            <a:srgbClr val="9AA7C7"/>
          </a:solidFill>
          <a:ln/>
        </p:spPr>
      </p:sp>
      <p:sp>
        <p:nvSpPr>
          <p:cNvPr id="13" name="Shape 11"/>
          <p:cNvSpPr/>
          <p:nvPr/>
        </p:nvSpPr>
        <p:spPr>
          <a:xfrm>
            <a:off x="7370064" y="233172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EEF1F8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370064" y="2331720"/>
            <a:ext cx="187452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Update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personalized state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272016" y="2930652"/>
            <a:ext cx="329184" cy="219456"/>
          </a:xfrm>
          <a:prstGeom prst="rightArrow">
            <a:avLst/>
          </a:prstGeom>
          <a:solidFill>
            <a:srgbClr val="9AA7C7"/>
          </a:solidFill>
          <a:ln/>
        </p:spPr>
      </p:sp>
      <p:sp>
        <p:nvSpPr>
          <p:cNvPr id="16" name="Shape 14"/>
          <p:cNvSpPr/>
          <p:nvPr/>
        </p:nvSpPr>
        <p:spPr>
          <a:xfrm>
            <a:off x="9628632" y="233172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E7ECF7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628632" y="2331720"/>
            <a:ext cx="187452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forecast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977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twin's state carries forward — the next forecast starts from the updated parameters, not from scratch.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BF1E3"/>
          </a:solidFill>
          <a:ln w="12700">
            <a:solidFill>
              <a:srgbClr val="E0B169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68680" y="48006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8A5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model predicts the maximum glucose reached within the 120-minute post-meal window — not necessarily a complete glucose-over-time curve.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473952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 — proposed solution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Innovative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40680" cy="932688"/>
          </a:xfrm>
          <a:prstGeom prst="roundRect">
            <a:avLst>
              <a:gd name="adj" fmla="val 7843"/>
            </a:avLst>
          </a:prstGeom>
          <a:solidFill>
            <a:srgbClr val="EEF1F8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142646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426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32588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Forecast–Observe–Update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5506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Connects predictions with eligible observed outcomes and subsequent state updates.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95144"/>
            <a:ext cx="5440680" cy="932688"/>
          </a:xfrm>
          <a:prstGeom prst="roundRect">
            <a:avLst>
              <a:gd name="adj" fmla="val 7843"/>
            </a:avLst>
          </a:prstGeom>
          <a:solidFill>
            <a:srgbClr val="EEF1F8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248716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" y="2487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38658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Uncertainty-aware forecasting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7157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Communicates prediction uncertainty — never presents an estimate as a guarantee.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55848"/>
            <a:ext cx="5440680" cy="932688"/>
          </a:xfrm>
          <a:prstGeom prst="roundRect">
            <a:avLst>
              <a:gd name="adj" fmla="val 7843"/>
            </a:avLst>
          </a:prstGeom>
          <a:solidFill>
            <a:srgbClr val="EEF1F8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54787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547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44728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Bayesian-style personalization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7764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B updates a personalized carbohydrate-response parameter from eligible observations.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1234440"/>
            <a:ext cx="5440680" cy="932688"/>
          </a:xfrm>
          <a:prstGeom prst="roundRect">
            <a:avLst>
              <a:gd name="adj" fmla="val 7843"/>
            </a:avLst>
          </a:prstGeom>
          <a:solidFill>
            <a:srgbClr val="EEF1F8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28232" y="142646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28232" y="1426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132588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Persistent Digital Twin state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165506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Retains model state and full version history for every subsequent forecast.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63640" y="2295144"/>
            <a:ext cx="5440680" cy="932688"/>
          </a:xfrm>
          <a:prstGeom prst="roundRect">
            <a:avLst>
              <a:gd name="adj" fmla="val 7843"/>
            </a:avLst>
          </a:prstGeom>
          <a:solidFill>
            <a:srgbClr val="EEF1F8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28232" y="248716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28232" y="2487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238658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Explainability &amp; model comparison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27157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Lets researchers inspect outputs and compare modelling approaches side by side.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48970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project's contribution is the integrated, working loop — not any single technique in isolation.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6473952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 — innovative features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and Research Methodology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CGMacros dataset (45 participants audited) — figures below refer to different stages of the same pipeline: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EF1F8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80136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1,706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377440"/>
            <a:ext cx="2386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logged meal rows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72968" y="2290572"/>
            <a:ext cx="164592" cy="219456"/>
          </a:xfrm>
          <a:prstGeom prst="rightArrow">
            <a:avLst/>
          </a:prstGeom>
          <a:solidFill>
            <a:srgbClr val="9AA7C7"/>
          </a:solidFill>
          <a:ln/>
        </p:spPr>
      </p:sp>
      <p:sp>
        <p:nvSpPr>
          <p:cNvPr id="8" name="Shape 6"/>
          <p:cNvSpPr/>
          <p:nvPr/>
        </p:nvSpPr>
        <p:spPr>
          <a:xfrm>
            <a:off x="3355848" y="16916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EF1F8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355848" y="180136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1,697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465576" y="2377440"/>
            <a:ext cx="2386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extraction-valid 120-min windows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80176" y="2290572"/>
            <a:ext cx="164592" cy="219456"/>
          </a:xfrm>
          <a:prstGeom prst="rightArrow">
            <a:avLst/>
          </a:prstGeom>
          <a:solidFill>
            <a:srgbClr val="9AA7C7"/>
          </a:solidFill>
          <a:ln/>
        </p:spPr>
      </p:sp>
      <p:sp>
        <p:nvSpPr>
          <p:cNvPr id="12" name="Shape 10"/>
          <p:cNvSpPr/>
          <p:nvPr/>
        </p:nvSpPr>
        <p:spPr>
          <a:xfrm>
            <a:off x="6163056" y="16916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EF1F8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163056" y="180136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1,262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272784" y="2377440"/>
            <a:ext cx="2386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core-eligible events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(leakage-safe modelling set)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87384" y="2290572"/>
            <a:ext cx="164592" cy="219456"/>
          </a:xfrm>
          <a:prstGeom prst="rightArrow">
            <a:avLst/>
          </a:prstGeom>
          <a:solidFill>
            <a:srgbClr val="9AA7C7"/>
          </a:solidFill>
          <a:ln/>
        </p:spPr>
      </p:sp>
      <p:sp>
        <p:nvSpPr>
          <p:cNvPr id="16" name="Shape 14"/>
          <p:cNvSpPr/>
          <p:nvPr/>
        </p:nvSpPr>
        <p:spPr>
          <a:xfrm>
            <a:off x="8970264" y="16916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7ECF7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970264" y="180136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963 / 34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9079992" y="2377440"/>
            <a:ext cx="2386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activity-eligible events / participants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(Model B vs C comparison)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429000"/>
            <a:ext cx="1106424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Meal event anchored at the logged meal row (t0); outcome window is (t0, t0+120 min].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Features use only information available before the meal; activity measured strictly before t0.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Leakage safeguards: participant-level folds, sequential (online) evaluation — no participant or future value leaks into a forecast.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 every model used every event — e.g. the 963/34 figure is the activity-eligible subset used for the Model B vs C comparison.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548640" y="548640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BF1E3"/>
          </a:solidFill>
          <a:ln w="12700">
            <a:solidFill>
              <a:srgbClr val="E0B169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2960" y="55778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5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participant-level health data or the dataset itself is included in this repository — aggregate, de-identified figures only.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473952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 — dataset and methodology · Source: data/audit, docs/data_validity_rules.md, docs/primary_channel_decision.md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 and Technical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EF1F8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26187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 19 · TypeScript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Vite — 7 pages, calls /api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005072" y="1787652"/>
            <a:ext cx="265176" cy="219456"/>
          </a:xfrm>
          <a:prstGeom prst="rightArrow">
            <a:avLst/>
          </a:prstGeom>
          <a:solidFill>
            <a:srgbClr val="9AA7C7"/>
          </a:solidFill>
          <a:ln/>
        </p:spPr>
      </p:sp>
      <p:sp>
        <p:nvSpPr>
          <p:cNvPr id="7" name="Shape 5"/>
          <p:cNvSpPr/>
          <p:nvPr/>
        </p:nvSpPr>
        <p:spPr>
          <a:xfrm>
            <a:off x="4297680" y="11887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EF1F8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34840" y="126187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 API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16002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FastAPI, 127.0.0.1 only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+ ownership on every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twin route · scrypt hashing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54112" y="1787652"/>
            <a:ext cx="265176" cy="219456"/>
          </a:xfrm>
          <a:prstGeom prst="rightArrow">
            <a:avLst/>
          </a:prstGeom>
          <a:solidFill>
            <a:srgbClr val="9AA7C7"/>
          </a:solidFill>
          <a:ln/>
        </p:spPr>
      </p:sp>
      <p:sp>
        <p:nvSpPr>
          <p:cNvPr id="11" name="Shape 9"/>
          <p:cNvSpPr/>
          <p:nvPr/>
        </p:nvSpPr>
        <p:spPr>
          <a:xfrm>
            <a:off x="8046720" y="11887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EF1F8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183880" y="126187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6002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SQLite — 11 tables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(users, twins, forecasts,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observations, reconciliations…)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7ECF7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3017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engine (shared): Bayesian Models B &amp; C — closed-form update, forecast + uncertainty. The live twin and offline research experiments call the exact same functions.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BF1E3"/>
          </a:solidFill>
          <a:ln w="12700">
            <a:solidFill>
              <a:srgbClr val="E0B169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4114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8A5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Offline CGMacros research pipeline runs on the researcher's own machine — never reached by the website; only aggregate priors and reports cross over.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029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stack (from the repository configuration):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349240"/>
            <a:ext cx="110642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pandas, NumPy, SciPy, scikit-learn, XGBoost (Model A) — src/glycotwin/models/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FastAPI, Pydantic v2, SQLAlchemy 2, Uvicorn, SQLite — src/glycotwin/backend/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pytest, httpx for testing (815 Python tests recorded)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73952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 — architecture and stack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 Models and Personalization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611880" cy="1508760"/>
          </a:xfrm>
          <a:prstGeom prst="roundRect">
            <a:avLst>
              <a:gd name="adj" fmla="val 4848"/>
            </a:avLst>
          </a:prstGeom>
          <a:solidFill>
            <a:srgbClr val="EEF1F8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Population baseline (XGBoost). Trained once on the population; no personal history used.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297680" y="1188720"/>
            <a:ext cx="3611880" cy="1508760"/>
          </a:xfrm>
          <a:prstGeom prst="roundRect">
            <a:avLst>
              <a:gd name="adj" fmla="val 4848"/>
            </a:avLst>
          </a:prstGeom>
          <a:solidFill>
            <a:srgbClr val="E7ECF7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434840" y="12801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B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164592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Personalized Bayesian carbohydrate-sensitivity model. Its parameter β updates after each eligible observed meal.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0" y="1188720"/>
            <a:ext cx="3611880" cy="1508760"/>
          </a:xfrm>
          <a:prstGeom prst="roundRect">
            <a:avLst>
              <a:gd name="adj" fmla="val 4848"/>
            </a:avLst>
          </a:prstGeom>
          <a:solidFill>
            <a:srgbClr val="EEF1F8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183880" y="12801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C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183880" y="164592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B plus an activity-conditioning term γ — evaluated as a research comparison against Model B.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EF1F8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68680" y="30632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B:   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rise = β · carbs + noise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C:   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rise = (β + γ · activity) · carbs + noise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480560"/>
            <a:ext cx="11064240" cy="1508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plain English: β ("beta") is how much this person's glucose typically rises per gram of carbohydrate; γ ("gamma") adjusts that for recent activity.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an eligible outcome, a closed-form Bayesian update moves β toward what that meal suggests and narrows its uncertainty.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a parameter update, not retraining a neural network — no model is retrained from scratch after each meal.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473952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 — models, uncertainty, personalization · Source: docs/model_a.md, model_b.md, model_c.md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Results and Evaluation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B vs Model C — 963 meals, 34 participants, Libre channel, out-of-fold + sequential evaluation:</a:t>
            </a:r>
            <a:endParaRPr lang="en-US" sz="15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920240"/>
                <a:gridCol w="1920240"/>
                <a:gridCol w="1737360"/>
                <a:gridCol w="24688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Metric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 B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 C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 − B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95% interval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ROC-AUC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0.7943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0.8059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+0.0116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[−0.0084, +0.0479]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Brier score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0.1391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0.1379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−0.0012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[−0.0064, +0.0030]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Rise MAE (mg/dL)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29.40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29.51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+0.11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3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[−0.52, +0.68]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611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A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of 9 paired intervals include zero → the comparison is INCONCLUSIVE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14800"/>
            <a:ext cx="110642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B does not demonstrably outperform every baseline; Model C's activity term has not been shown to help.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502920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BF1E3"/>
          </a:solidFill>
          <a:ln w="12700">
            <a:solidFill>
              <a:srgbClr val="E0B169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22960" y="5193792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8A5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different kinds of evidence: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A5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retrospective CGMacros result is research evidence — not the same as the live application working (shown next slide), and neither is the same as clinical validation, which has not been done.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473952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 — research evidence · Source: docs/model_b_vs_c_report.md (not recomputed for this deck)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Demonstration, Limitations and Safety</a:t>
            </a:r>
            <a:endParaRPr lang="en-US" sz="3200" dirty="0"/>
          </a:p>
        </p:txBody>
      </p:sp>
      <p:pic>
        <p:nvPicPr>
          <p:cNvPr id="3" name="Image 0" descr="/tmp/vid/shots/final_5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1188720"/>
            <a:ext cx="5486400" cy="3429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172200" y="1188720"/>
            <a:ext cx="5486400" cy="3429000"/>
          </a:xfrm>
          <a:prstGeom prst="rect">
            <a:avLst/>
          </a:prstGeom>
          <a:ln w="12700">
            <a:solidFill>
              <a:srgbClr val="D7DCE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72200" y="4663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application screenshot — My Twin page after one eligible update (version 0 → 1)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5394960" cy="2743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Forecast (version 0): P(max ≥ 180 mg/dL) = 7.7%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Observe: an eligible outcome is recorded after the 120-min window closes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Update: Model B β moves from 0.747 → 0.950 (new twin version 1)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forecast, same inputs: P(max ≥ 180 mg/dL) = 21.0%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776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i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inputs, different twin state, different forecast.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470916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FBEAEA"/>
          </a:solidFill>
          <a:ln w="12700">
            <a:solidFill>
              <a:srgbClr val="D9A0A0"/>
            </a:solidFill>
            <a:prstDash val="solid"/>
          </a:ln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22960" y="4846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 and safety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166360"/>
            <a:ext cx="105156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Investigational research prototype — not a clinically validated diagnostic or treatment system.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 intended for insulin dosing or any clinical decision.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Further evaluation and independent validation are required before any real-world use.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6473952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 — live demonstration and limitations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4B58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and Future Work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64240" cy="2606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Problem: one-off glucose predictions cannot adapt to the individual.</a:t>
            </a:r>
            <a:endParaRPr lang="en-US" sz="18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Central innovation: a persistent, versioned Digital Twin that links forecasting, uncertainty, and sequential Bayesian personalization in one working loop.</a:t>
            </a:r>
            <a:endParaRPr lang="en-US" sz="18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retrospective CGMacros research gives early, honest evidence — inconclusive for the activity-conditioning hypothesis, but the pipeline and safeguards are validated.</a:t>
            </a:r>
            <a:endParaRPr lang="en-US" sz="18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721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steps: run the full prespecified key experiment on real data with baseline controls; test whether an activity effect depends on activity level.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42519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24315C"/>
          </a:solidFill>
          <a:ln/>
          <a:effectLst>
            <a:outerShdw sx="100000" sy="100000" kx="0" ky="0" algn="bl" rotWithShape="0" blurRad="50800" dist="25400" dir="5400000">
              <a:srgbClr val="BFC8DC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44348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CBD5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Repository:  </a:t>
            </a:r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github.com/medhachoudhari/GlycoTwin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CBD5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/ Institution:  </a:t>
            </a:r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F2C9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[to be filled in — see title slide]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GlycoTwin connects forecasting, observation, and personalization into one honest, auditable research workflow.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7C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Investigational research prototype — not a medical device, not clinically validated.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ycoTwinLight">
  <a:themeElements>
    <a:clrScheme name="GlycoTwinLight">
      <a:dk1>
        <a:srgbClr val="17213B"/>
      </a:dk1>
      <a:lt1>
        <a:srgbClr val="FFFFFF"/>
      </a:lt1>
      <a:dk2>
        <a:srgbClr val="1E2761"/>
      </a:dk2>
      <a:lt2>
        <a:srgbClr val="EEF1F8"/>
      </a:lt2>
      <a:accent1>
        <a:srgbClr val="1E2761"/>
      </a:accent1>
      <a:accent2>
        <a:srgbClr val="3B5BA5"/>
      </a:accent2>
      <a:accent3>
        <a:srgbClr val="9AA7C7"/>
      </a:accent3>
      <a:accent4>
        <a:srgbClr val="B45309"/>
      </a:accent4>
      <a:accent5>
        <a:srgbClr val="A61B29"/>
      </a:accent5>
      <a:accent6>
        <a:srgbClr val="5B6B8C"/>
      </a:accent6>
      <a:hlink>
        <a:srgbClr val="1E2761"/>
      </a:hlink>
      <a:folHlink>
        <a:srgbClr val="1E2761"/>
      </a:folHlink>
    </a:clrScheme>
    <a:fontScheme name="GlycoTwinLight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2026-10-13T14:50:14Z</dcterms:created>
  <dcterms:modified xsi:type="dcterms:W3CDTF">2026-10-13T14:50:14Z</dcterms:modified>
</cp:coreProperties>
</file>
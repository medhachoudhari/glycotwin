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GlycoTwin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EAD4"/>
                </a:solidFill>
                <a:latin typeface="Calibri"/>
              </a:rPr>
              <a:t>Personalized Post-Meal Glucose Digital Twin · investigational research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BROWSER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React 19 · TypeScript · Vite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Pages: Home, My Twin, Forecast,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Observations, History, Insights,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Settings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Hash router, /api proxy to backend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011680"/>
            <a:ext cx="685800" cy="0"/>
          </a:xfrm>
          <a:prstGeom prst="bentConnector3">
            <a:avLst/>
          </a:prstGeom>
          <a:ln w="28575">
            <a:solidFill>
              <a:srgbClr val="5EEA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0380" y="1737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C4DC"/>
                </a:solidFill>
                <a:latin typeface="Calibri"/>
              </a:rPr>
              <a:t>/api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2344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FASTAPI BACKEND  (127.0.0.1 only)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routers: auth · twins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Session cookie (HttpOnly) + ownership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check on every twin route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scrypt password hashing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One DB transaction per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2011680"/>
            <a:ext cx="685799" cy="0"/>
          </a:xfrm>
          <a:prstGeom prst="bentConnector3">
            <a:avLst/>
          </a:prstGeom>
          <a:ln w="28575">
            <a:solidFill>
              <a:srgbClr val="5EEA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01000" y="1234440"/>
            <a:ext cx="3794760" cy="1600200"/>
          </a:xfrm>
          <a:prstGeom prst="roundRect">
            <a:avLst>
              <a:gd name="adj" fmla="val 6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SQLITE  ·  11 TABLES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users · sessions · twin_owners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twins · twin_states · parameter_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snapshots · forecasts · observations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reconciliations · what_if_runs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data_quality_flags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0" y="2834640"/>
            <a:ext cx="0" cy="320040"/>
          </a:xfrm>
          <a:prstGeom prst="bentConnector3">
            <a:avLst/>
          </a:prstGeom>
          <a:ln w="28575">
            <a:solidFill>
              <a:srgbClr val="5EEA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31920" y="320040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RESEARCH ENGINE  (shared Python package)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Bayesian Models B and C (conjugate update,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forecast_exceeds_180) · versioned twin state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explanations · what-if · data-quality flags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Same functions power the live twin AND the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offline research experiments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4572000"/>
            <a:ext cx="0" cy="320040"/>
          </a:xfrm>
          <a:prstGeom prst="bentConnector3">
            <a:avLst/>
          </a:prstGeom>
          <a:ln w="28575">
            <a:solidFill>
              <a:srgbClr val="5EEA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4937760"/>
            <a:ext cx="11384280" cy="777240"/>
          </a:xfrm>
          <a:prstGeom prst="roundRect">
            <a:avLst>
              <a:gd name="adj" fmla="val 6000"/>
            </a:avLst>
          </a:prstGeom>
          <a:solidFill>
            <a:srgbClr val="0E1E16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THE LOOP</a:t>
            </a:r>
          </a:p>
          <a:p>
            <a:r>
              <a:rPr sz="1200">
                <a:solidFill>
                  <a:srgbClr val="B8C4DC"/>
                </a:solidFill>
                <a:latin typeface="Calibri"/>
              </a:rPr>
              <a:t>meal inputs → validation → forecast + uncertainty → observed outcome → eligibility &amp; leakage safeguards →</a:t>
            </a:r>
          </a:p>
          <a:p>
            <a:r>
              <a:rPr sz="1200">
                <a:solidFill>
                  <a:srgbClr val="B8C4DC"/>
                </a:solidFill>
                <a:latin typeface="Calibri"/>
              </a:rPr>
              <a:t>personal state update (Bayesian) → new twin version saved → next forecast and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852160"/>
            <a:ext cx="11384280" cy="822960"/>
          </a:xfrm>
          <a:prstGeom prst="roundRect">
            <a:avLst>
              <a:gd name="adj" fmla="val 6000"/>
            </a:avLst>
          </a:prstGeom>
          <a:solidFill>
            <a:srgbClr val="241A0C"/>
          </a:solidFill>
          <a:ln w="19050">
            <a:solidFill>
              <a:srgbClr val="FBB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300" b="1">
                <a:solidFill>
                  <a:srgbClr val="FBBF24"/>
                </a:solidFill>
                <a:latin typeface="Consolas"/>
              </a:rPr>
              <a:t>OFFLINE CGMacros RESEARCH PIPELINE  (researcher's own machine — never reached by the website)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Meal-event table · leakage safeguards (participant-level folds, sequential evaluation) · Model A (population XGBoost baseline) ·</a:t>
            </a:r>
          </a:p>
          <a:p>
            <a:r>
              <a:rPr sz="1100">
                <a:solidFill>
                  <a:srgbClr val="B8C4DC"/>
                </a:solidFill>
                <a:latin typeface="Calibri"/>
              </a:rPr>
              <a:t>Model B vs Model C comparison and reports  →  only aggregate priors and reports ever cross to the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
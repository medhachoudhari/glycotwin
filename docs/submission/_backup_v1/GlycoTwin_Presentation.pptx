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4F7FB"/>
                </a:solidFill>
                <a:latin typeface="Calibri"/>
              </a:rPr>
              <a:t>GlycoTwin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5EEAD4"/>
                </a:solidFill>
                <a:latin typeface="Calibri"/>
              </a:rPr>
              <a:t>Personalized Post-Meal Glucose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8C4DC"/>
                </a:solidFill>
                <a:latin typeface="Calibri"/>
              </a:rPr>
              <a:t>Digital Twin Challenge 2026 · Happiest Health Summit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777240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>
                <a:solidFill>
                  <a:srgbClr val="B8C4DC"/>
                </a:solidFill>
                <a:latin typeface="Calibri"/>
              </a:rPr>
              <a:t>Team: [Team name / member names — to be filled in]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Institution: [College / university — to be filled in]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Incubator (if any): [Incubator name, or "Not applicable" — to be filled in]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github.com/medhachoudhari/GlycoTwin · Investigational research prototype —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1338560" cy="164592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500">
                <a:solidFill>
                  <a:srgbClr val="B8C4DC"/>
                </a:solidFill>
                <a:latin typeface="Calibri"/>
              </a:rPr>
              <a:t>After the same meal, two people can show very different post-meal glucose responses — age, body composition,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activity and individual metabolism all matter. Most glucose-forecasting tools give one prediction and move on: they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don't remember the person, don't say how confident they are, and don't improve as more is learned about the individual.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0"/>
            <a:ext cx="1133856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WHY IT MATTERS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Post-meal glucose excursions are a well-studied correlate of metabolic risk. A tool that is honest about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uncertainty and adapts to the individual is a more defensible research direction than a single population-average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number presented with false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Healthcare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WHO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A research / self-monitoring context: an individual (or a researcher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studying a cohort) wearing a continuous glucose monitor who wants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to understand how their own glucose responds to specific meals and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activity — NOT a clinical decision-support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WHAT THE TOOL DOES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For a planned meal, forecasts the probability and range of the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2-hour glucose maximum, personalized to that individual's own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history, and updates itself as outcomes are observed.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429000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FBBF24"/>
                </a:solidFill>
                <a:latin typeface="Consolas"/>
              </a:rPr>
              <a:t>EXPLICITLY OUT OF SCOPE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Diagnosis, insulin dosing, medication or diet prescriptions, and any clinical decision. GlycoTwin is an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investigational research prototype — every page of the application and this deck says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healthcare use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1338560" cy="15544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THE LOOP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Forecast -&gt; Observe -&gt; Update. A Digital Twin holds a personal, versioned state. It forecasts a meal's glucose outcome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with uncertainty, receives the real outcome once observed, and -- if eligible -- runs a closed-form Bayesian update that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writes a new, numbered twin version. The next forecast uses the updated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004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1 - FORECAST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Probability + 90% interval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for the 2-hour glucose maximum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32004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2 - OBSERVE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Real outcome recorded once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the window closes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32004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3 - UPDATE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Eligible outcomes create a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new, auditable twin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Innovative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1 - PERSISTENT, VERSIONED TWIN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Each eligible outcome creates a new version.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Nothing is overwritten; full audit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2 - UNCERTAINTY-AWARE FORECASTING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A distribution for the 2-hour maximum, a 90%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interval, and P(max &gt;= 180 mg/dL) -- never a bare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point estimate.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56616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3 - SEQUENTIAL BAYESIAN PERSONALIZATION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Model B's carbohydrate sensitivity updates in closed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form from each person's own eligible meals -- a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parameter update, not retraining.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56616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4 - EXPLAINABILITY + MODEL COMPARISON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Term-by-term explanations; Models B and C shown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side by side with pre-declared comparison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innovative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CGMacros dataset and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Participants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45, ~10 days of minute-level data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2996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Rows (audit)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29967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687,580 total (5,655-18,735 per participant)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8833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88335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Two CGMs (Libre GL, Dexcom GL), activity (METs), heart rate, logged macros, meal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4670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46703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Max glucose in (t0, t0+120 min] &gt;= 180 mg/dL, where t0 = the logged meal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0507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Leakage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05071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Past-only features - participant-level folds - sequential (online)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6343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Licence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663439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CC BY-NC-SA 4.0 -- cited, never redistributed, never committed to this 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413247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4DC"/>
                </a:solidFill>
                <a:latin typeface="Calibri"/>
              </a:rPr>
              <a:t>Source: data/audit/dataset_aggregate_summary.md, docs/data_validity_rules.md, docs/primary_channel_decision.md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dataset and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FRONTEND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React 19 + TypeScript + Vite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7 pages - calls /api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BACKEND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FastAPI, 127.0.0.1 only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session + ownership on every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twin route - scrypt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716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DATABASE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SQLite, 11 tables (users,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sessions, twins, twin_states,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forecasts, observations...)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10896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RESEARCH ENGINE (shared)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Bayesian Models B &amp; C; the live twin and offline experiments call the exact same update/forecast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43484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FBBF24"/>
                </a:solidFill>
                <a:latin typeface="Consolas"/>
              </a:rPr>
              <a:t>OFFLINE CGMACROS PIPELINE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Runs on the researcher's own machine. Only aggregate priors and reports ever cross to the website.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8C4DC"/>
                </a:solidFill>
                <a:latin typeface="Calibri"/>
              </a:rPr>
              <a:t>Full diagram: docs/submission/GlycoTwin_Architecture.pdf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Models, uncertainty and personalization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800">
                <a:solidFill>
                  <a:srgbClr val="B8C4DC"/>
                </a:solidFill>
                <a:latin typeface="Calibri"/>
              </a:rPr>
              <a:t>Model B:  rise = beta * carbs +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11338560" cy="6858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800">
                <a:solidFill>
                  <a:srgbClr val="B8C4DC"/>
                </a:solidFill>
                <a:latin typeface="Calibri"/>
              </a:rPr>
              <a:t>Model C:  rise = (beta + gamma * activity) * carbs +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971800"/>
            <a:ext cx="11338560" cy="150876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400">
                <a:solidFill>
                  <a:srgbClr val="B8C4DC"/>
                </a:solidFill>
                <a:latin typeface="Calibri"/>
              </a:rPr>
              <a:t>Beta starts from a population prior and is updated after each eligible meal in closed form (conjugate Normal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update). The forecast's predictive variance combines noise and the twin's own parameter uncertainty -- reported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as a 90% interval and P(max &gt;= 180 mg/dL), never a guarantee.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617720"/>
            <a:ext cx="11338560" cy="10058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FBBF24"/>
                </a:solidFill>
                <a:latin typeface="Consolas"/>
              </a:rPr>
              <a:t>ELIGIBLE ONLY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Window closed - unusable windows excluded - back-dated forecasts refused. A parameter update, not retraining a neural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models, uncertainty, personalization · Source: docs/model_b.md, docs/model_c.md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Forecast → Observe → Update, demonstrated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Twin version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Twin version 1 (after one eligible observation)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B"/>
                </a:solidFill>
                <a:latin typeface="Calibri"/>
              </a:rPr>
              <a:t>Model B beta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20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0.747 +/- 0.187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0.950 +/- 0.144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B"/>
                </a:solidFill>
                <a:latin typeface="Calibri"/>
              </a:rPr>
              <a:t>Forecast (60g carbs, act. 0.3, glucose 110)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60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expected max 155, 90% interval 126-184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560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expected max 167, 90% interval 140-194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00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B"/>
                </a:solidFill>
                <a:latin typeface="Calibri"/>
              </a:rPr>
              <a:t>P(max &gt;= 180 mg/dL)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00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00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21.0%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3192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500">
                <a:solidFill>
                  <a:srgbClr val="B8C4DC"/>
                </a:solidFill>
                <a:latin typeface="Calibri"/>
              </a:rPr>
              <a:t>Same inputs, different twin state, different forecast. This is what a one-off prediction tool cannot 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02920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4DC"/>
                </a:solidFill>
                <a:latin typeface="Calibri"/>
              </a:rPr>
              <a:t>Values entered by hand for this demonstration (60g carbs, 185 mg/dL outcome); not a participant's data.
Full walkthrough: demo/video/GlycoTwin_demo_subtitled.mp4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live application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Verified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63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Model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Model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63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C -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Calibri"/>
              </a:rPr>
              <a:t>95% 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0.7943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0.8059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+0.0116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[-0.0084, +0.0479]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Brier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0.1391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0.1379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-0.0012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[-0.0064, +0.0030]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Rise MAE (mg/dL)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29.40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29.51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+0.11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Calibri"/>
              </a:rPr>
              <a:t>[-0.52, +0.68]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11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B7185"/>
                </a:solidFill>
                <a:latin typeface="Calibri"/>
              </a:rPr>
              <a:t>8 of 9 paired intervals contain zero -&gt; INCONCLUSIVE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51960"/>
            <a:ext cx="11338560" cy="146304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>
                <a:solidFill>
                  <a:srgbClr val="B8C4DC"/>
                </a:solidFill>
                <a:latin typeface="Calibri"/>
              </a:rPr>
              <a:t>963 meals, 34 participants, Libre channel, out-of-fold + sequential evaluation. Numbers are the researcher's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recorded local runs (docs/model_b_vs_c_report.md), not recomputed for this deck. The shuffled-history /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running-rate / population-XGBoost comparison is implemented but has no real-data run yet -- no numbers claimed.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research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7FB"/>
                </a:solidFill>
                <a:latin typeface="Calibri"/>
              </a:rPr>
              <a:t>Limitations, safety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1338560" cy="109728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400">
                <a:solidFill>
                  <a:srgbClr val="B8C4DC"/>
                </a:solidFill>
                <a:latin typeface="Calibri"/>
              </a:rPr>
              <a:t>Investigational research prototype. Not a diagnostic tool. Not a validated medical device. Not for insulin dosing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or treatment decisions. The current evaluation does not establish clinical effectiveness.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•  34 participants; the label is a lower bound (maximum observed glucose)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•  Self-reported macronutrients; wrist-device activity; one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•  No multiplicity correction across the nine compared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Calibri"/>
              </a:rPr>
              <a:t>•  No external security review of the account system; no Windows testing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43484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300" b="1">
                <a:solidFill>
                  <a:srgbClr val="5EEAD4"/>
                </a:solidFill>
                <a:latin typeface="Consolas"/>
              </a:rPr>
              <a:t>NEXT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Run the full prespecified key experiment on real data with shuffled-history and baseline controls;</a:t>
            </a:r>
          </a:p>
          <a:p>
            <a:r>
              <a:rPr sz="1300">
                <a:solidFill>
                  <a:srgbClr val="B8C4DC"/>
                </a:solidFill>
                <a:latin typeface="Calibri"/>
              </a:rPr>
              <a:t>test whether an activity effect depends on activity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— limitations and future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F7FB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500">
                <a:solidFill>
                  <a:srgbClr val="B8C4DC"/>
                </a:solidFill>
                <a:latin typeface="Calibri"/>
              </a:rPr>
              <a:t>GlycoTwin shows that a stateful, uncertainty-aware, Bayesian-personalized Digital Twin loop can be built and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evaluated honestly end to end -- and reports, without overstating it, that its first activity-conditioning</a:t>
            </a:r>
          </a:p>
          <a:p>
            <a:r>
              <a:rPr sz="1500">
                <a:solidFill>
                  <a:srgbClr val="B8C4DC"/>
                </a:solidFill>
                <a:latin typeface="Calibri"/>
              </a:rPr>
              <a:t>hypothesis is currently INCONCLUSIVE.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8686800" cy="1828800"/>
          </a:xfrm>
          <a:prstGeom prst="roundRect">
            <a:avLst>
              <a:gd name="adj" fmla="val 5000"/>
            </a:avLst>
          </a:prstGeom>
          <a:solidFill>
            <a:srgbClr val="121C31"/>
          </a:solidFill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01600" bIns="101600"/>
          <a:lstStyle/>
          <a:p>
            <a:pPr algn="ctr"/>
            <a:r>
              <a:rPr sz="1400">
                <a:solidFill>
                  <a:srgbClr val="B8C4DC"/>
                </a:solidFill>
                <a:latin typeface="Calibri"/>
              </a:rPr>
              <a:t>Repository: github.com/medhachoudhari/GlycoTwin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Demo video (15:34): [Unlisted YouTube link -- pending]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Architecture: docs/submission/GlycoTwin_Architecture.pdf</a:t>
            </a:r>
          </a:p>
          <a:p>
            <a:r>
              <a:rPr sz="1400">
                <a:solidFill>
                  <a:srgbClr val="B8C4DC"/>
                </a:solidFill>
                <a:latin typeface="Calibri"/>
              </a:rPr>
              <a:t>License: [pending your approval -- see README]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8C4DC"/>
                </a:solidFill>
                <a:latin typeface="Calibri"/>
              </a:rPr>
              <a:t>GlycoTwin · Digital Twin Challenge 2026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